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59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Arial"/>
              </a:defRPr>
            </a:pPr>
            <a:r>
              <a:t>Git-Driven Online Assignment Submission Portal</a:t>
            </a:r>
          </a:p>
          <a:p>
            <a:pPr>
              <a:defRPr sz="1600">
                <a:solidFill>
                  <a:srgbClr val="94A3B8"/>
                </a:solidFill>
                <a:latin typeface="Calibri"/>
              </a:defRPr>
            </a:pPr>
            <a:r>
              <a:t>End-to-End DevOps Lifecycle, Continuous Delivery &amp; System Validation</a:t>
            </a:r>
            <a:br/>
            <a:r>
              <a:t>Candidate: Ayush Gole | Roll Number: 23102A0005 | Branch: Computer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10725912" cy="411480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Institutional Coursework: DevOps (Semester VII)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Faculty In-charge: Prof. Snehal Andhare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Comprehensive 15-Milestone Agile &amp; DevOps Implementation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Production-Grade Toolchain: Java 21, Spring Boot, MySQL 8.4, Docker, Jenkins, Ansible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59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Arial"/>
              </a:defRPr>
            </a:pPr>
            <a:r>
              <a:t>1. Problem Definition, Stakeholders &amp; Scope</a:t>
            </a:r>
          </a:p>
          <a:p>
            <a:pPr>
              <a:defRPr sz="1600">
                <a:solidFill>
                  <a:srgbClr val="94A3B8"/>
                </a:solidFill>
                <a:latin typeface="Calibri"/>
              </a:defRPr>
            </a:pPr>
            <a:r>
              <a:t>Real-time institutional challenge: fragmented assignment submissions and review opacity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10725912" cy="411480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Stakeholders &amp; Actors: Student (coursework submission), Reviewer (queue inspection, approval/rejection), Admin (audit &amp; management).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Core Pain Points: Lost attachments, unvalidated file formats, lack of submission integrity verification, and absence of concurrency controls.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Approved MVP Scope: 28 Functional Requirements (FR-1 to FR-28) covering session auth, PDF validation, optimistic locking, and audit trails.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Measurable Success Criteria: 100% automated test coverage across critical user flows, zero-defect release gates, and sub-10 second deployments.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59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Arial"/>
              </a:defRPr>
            </a:pPr>
            <a:r>
              <a:t>2. Architecture &amp; Technology Stack</a:t>
            </a:r>
          </a:p>
          <a:p>
            <a:pPr>
              <a:defRPr sz="1600">
                <a:solidFill>
                  <a:srgbClr val="94A3B8"/>
                </a:solidFill>
                <a:latin typeface="Calibri"/>
              </a:defRPr>
            </a:pPr>
            <a:r>
              <a:t>Modular monolith architecture with strict toolchain enforcement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10725912" cy="411480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Core Application: Java 21 LTS, Spring Boot 4.1.1, Spring Security (form login, CSRF tokens, session invalidation).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Data &amp; Persistence: MySQL 8.4 LTS, Spring Data JPA, Hibernate ORM, and Flyway database schema migrations.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Toolchain Enforcement: Maven Wrapper (mvnw 3.9.16) and maven-enforcer-plugin guaranteeing zero version drift across environments.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Storage Architecture: Volume-backed uploads with SHA-256 cryptographic checksums and magic-byte PDF content validation.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59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Arial"/>
              </a:defRPr>
            </a:pPr>
            <a:r>
              <a:t>3. Agile Planning &amp; DevOps Workflow</a:t>
            </a:r>
          </a:p>
          <a:p>
            <a:pPr>
              <a:defRPr sz="1600">
                <a:solidFill>
                  <a:srgbClr val="94A3B8"/>
                </a:solidFill>
                <a:latin typeface="Calibri"/>
              </a:defRPr>
            </a:pPr>
            <a:r>
              <a:t>Iterative delivery mapped across 15 user stories and two distinct sprints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10725912" cy="411480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Product Backlog: 15 structured user stories (US-01 to US-15) prioritized by institutional risk and operational dependency.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Sprint Plan: Sprint 1 focused on Core MVP, Security &amp; Storage; Sprint 2 focused on Reviewer Workflows, Automation &amp; Reliability.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Definition of Done (DoD): Code passes enforcer rules, zero compilation warnings, 100% unit/integration tests pass, and peer PR review merged.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Branching Strategy: Feature branching with protected main, peer review cards, and clean merge conflict resolution.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59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Arial"/>
              </a:defRPr>
            </a:pPr>
            <a:r>
              <a:t>4. Comprehensive Automated Testing Pyramid</a:t>
            </a:r>
          </a:p>
          <a:p>
            <a:pPr>
              <a:defRPr sz="1600">
                <a:solidFill>
                  <a:srgbClr val="94A3B8"/>
                </a:solidFill>
                <a:latin typeface="Calibri"/>
              </a:defRPr>
            </a:pPr>
            <a:r>
              <a:t>Three-tiered automated test strategy: Unit, Integration, and Browser E2E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10725912" cy="411480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Unit Tests (Surefire): 27 fast tests verifying authentication logic, password encoding, and byte-level PDF validation in &lt; 4s.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Integration Tests (Failsafe): 103 tests using Testcontainers running real MySQL 8.4 containers, verifying transactions and optimistic locking.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Selenium 4 E2E Suite: Page Object Model (POM) driving headless Chrome through student uploads and reviewer decision journeys.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Automated Failure Diagnostics: Custom JUnit 5 extension (E2EFailureArtifacts) auto-captures screenshots and DOM snapshots upon assertion trips.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59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Arial"/>
              </a:defRPr>
            </a:pPr>
            <a:r>
              <a:t>5. Continuous Integration &amp; Quality Gates in Jenkins</a:t>
            </a:r>
          </a:p>
          <a:p>
            <a:pPr>
              <a:defRPr sz="1600">
                <a:solidFill>
                  <a:srgbClr val="94A3B8"/>
                </a:solidFill>
                <a:latin typeface="Calibri"/>
              </a:defRPr>
            </a:pPr>
            <a:r>
              <a:t>Declarative pipeline enforcing strict pre-deployment automated quality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10725912" cy="411480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Declarative Pipeline (Jenkinsfile): 512 lines governing build, test, package, test-environment startup, and artifact retention.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Quality Gate Enforcement: catchError blocks coupled with when conditionals halt delivery if any unit, integration, or E2E test fails.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Defect Demonstration Drill: Planted defect (missing multipart encoding in upload.html) successfully tripped E2E gate and halted container build.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Defect Correction: Restored multipart attribute, resulting in 134/134 test pass and unlocking container packaging and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59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Arial"/>
              </a:defRPr>
            </a:pPr>
            <a:r>
              <a:t>6. Docker Containerization &amp; Multi-Stage Architecture</a:t>
            </a:r>
          </a:p>
          <a:p>
            <a:pPr>
              <a:defRPr sz="1600">
                <a:solidFill>
                  <a:srgbClr val="94A3B8"/>
                </a:solidFill>
                <a:latin typeface="Calibri"/>
              </a:defRPr>
            </a:pPr>
            <a:r>
              <a:t>Immutable, layered container images built for security and rapid caching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10725912" cy="411480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Multi-Stage Dockerfile: Eclipse Temurin 21 JRE runtime, extracting JAR layers via jarmode=tools extract --launcher --layers.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Layered Caching: Separates dependencies, loader, and snapshot libraries from application bytecode (image content size: 172 MB).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Security Baseline: Executes under non-root user 'portal' (UID 1001) with read-only application roots and isolated volume permissions.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Operational Health: Built-in HEALTHCHECK probe querying /actuator/health and STOPSIGNAL SIGTERM ensuring zero connection drops.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59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Arial"/>
              </a:defRPr>
            </a:pPr>
            <a:r>
              <a:t>7. Configuration Management &amp; Idempotent Provisioning</a:t>
            </a:r>
          </a:p>
          <a:p>
            <a:pPr>
              <a:defRPr sz="1600">
                <a:solidFill>
                  <a:srgbClr val="94A3B8"/>
                </a:solidFill>
                <a:latin typeface="Calibri"/>
              </a:defRPr>
            </a:pPr>
            <a:r>
              <a:t>Infrastructure as Code using Ansible playbooks, modular roles, and secret vaulting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10725912" cy="411480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Modular Roles: Common (system baseline, users, storage), Docker (engine, compose plugin), Application (systemd service, env config).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Security &amp; Vaulting: Sensitive database passwords and JWT secrets protected via encrypted Ansible Vault group variables.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Idempotency Guarantee: First run executes 14 state changes (changed=14); second convergence run executes with zero drift (changed=0, failed=0).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Service Supervision: Systemd unit assignment-portal.service ensures automatic restarts, crash recovery, and health probe monitoring.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59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Arial"/>
              </a:defRPr>
            </a:pPr>
            <a:r>
              <a:t>8. Continuous Deployment &amp; Rollback Recovery Drill</a:t>
            </a:r>
          </a:p>
          <a:p>
            <a:pPr>
              <a:defRPr sz="1600">
                <a:solidFill>
                  <a:srgbClr val="94A3B8"/>
                </a:solidFill>
                <a:latin typeface="Calibri"/>
              </a:defRPr>
            </a:pPr>
            <a:r>
              <a:t>Deterministic releases, versioned image publishing, and automated recovery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10725912" cy="411480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Versioned Tagging: Release tag v1.0.0 baked directly into image metadata via build-arg APP_VERSION and pushed to Docker Hub registry.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Continuous Deployment: Fully automated pipeline deploys candidate container and waits for Actuator health probe verification.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Release Ledger: Tracks active and previous stable release versions in deploy/release-ledger.sh.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Automated Rollback: Proved health recovery by rolling back candidate release to prior stable v1.0.0 with zero persistent data loss.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59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Arial"/>
              </a:defRPr>
            </a:pPr>
            <a:r>
              <a:t>9. Conclusion &amp; Measurable Project Outcomes</a:t>
            </a:r>
          </a:p>
          <a:p>
            <a:pPr>
              <a:defRPr sz="1600">
                <a:solidFill>
                  <a:srgbClr val="94A3B8"/>
                </a:solidFill>
                <a:latin typeface="Calibri"/>
              </a:defRPr>
            </a:pPr>
            <a:r>
              <a:t>Summary of achievements, engineering rigor, and academic deliverables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10725912" cy="411480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Complete 15-Milestone DevOps Journey: 100% of all curriculum and industry requirements designed, implemented, and captured.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Empirical Evidence: All 15 tasks supported by real command logs, Failsafe test reports, Docker daemon runs, and high-resolution screenshots.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Institutional Documentation: 15 formal Word reports in docs/words/, LaTeX whitepaper, and comprehensive Viva Q&amp;A guide.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Future Roadmap: Microservices decomposition, Kubernetes Helm charts, OAuth2 SSO, and automated plagiarism scanning integration.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